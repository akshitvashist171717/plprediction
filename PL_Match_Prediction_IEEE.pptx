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Accuracy Comparison — Test vs Cross-Validation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
Regression</c:v>
                  </c:pt>
                  <c:pt idx="1">
                    <c:v>K-Nearest
Neighbors</c:v>
                  </c:pt>
                  <c:pt idx="2">
                    <c:v>Decision
Tree</c:v>
                  </c:pt>
                  <c:pt idx="3">
                    <c:v>Random
Forest</c:v>
                  </c:pt>
                  <c:pt idx="4">
                    <c:v>XGBoost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51.3</c:v>
                </c:pt>
                <c:pt idx="1">
                  <c:v>50.1</c:v>
                </c:pt>
                <c:pt idx="2">
                  <c:v>52.4</c:v>
                </c:pt>
                <c:pt idx="3">
                  <c:v>55.1</c:v>
                </c:pt>
                <c:pt idx="4">
                  <c:v>58.4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CV Accuracy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
Regression</c:v>
                  </c:pt>
                  <c:pt idx="1">
                    <c:v>K-Nearest
Neighbors</c:v>
                  </c:pt>
                  <c:pt idx="2">
                    <c:v>Decision
Tree</c:v>
                  </c:pt>
                  <c:pt idx="3">
                    <c:v>Random
Forest</c:v>
                  </c:pt>
                  <c:pt idx="4">
                    <c:v>XGBoost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50.8</c:v>
                </c:pt>
                <c:pt idx="1">
                  <c:v>49.5</c:v>
                </c:pt>
                <c:pt idx="2">
                  <c:v>51.2</c:v>
                </c:pt>
                <c:pt idx="3">
                  <c:v>54.7</c:v>
                </c:pt>
                <c:pt idx="4">
                  <c:v>57.9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54864" cy="36576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FORMAT  |  ACADEMIC PROJECT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Prediction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Algorithms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474720"/>
            <a:ext cx="758952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College Name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097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4632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Match Prediction  |  IEEE Format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749808"/>
            <a:ext cx="5120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749808"/>
            <a:ext cx="54864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8412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1207008"/>
            <a:ext cx="4800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match prediction is one of the most challenging problems in sports analytics. This project applies supervised machine learning to predict the outcome of English Premier League (EPL) matches.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collected 9,500+ historical match records spanning 14 seasons (2010–2024) from football-data.co.uk. The dataset includes goals, shots, corners, cards, and head-to-head statistics.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machine learning classifiers were trained to predict one of three outcomes: Home Win (H), Draw (D), or Away Win (A).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0" y="749808"/>
            <a:ext cx="315468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15000" y="786384"/>
            <a:ext cx="1005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9,500+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748272" y="749808"/>
            <a:ext cx="1828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786384"/>
            <a:ext cx="1920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Records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0" y="1554480"/>
            <a:ext cx="315468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15000" y="1591056"/>
            <a:ext cx="1005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748272" y="1554480"/>
            <a:ext cx="1828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591056"/>
            <a:ext cx="1920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(2010–2024)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0" y="2359152"/>
            <a:ext cx="3154680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5000" y="2395728"/>
            <a:ext cx="1005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6748272" y="2359152"/>
            <a:ext cx="1828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2395728"/>
            <a:ext cx="1920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0" y="3163824"/>
            <a:ext cx="3154680" cy="685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15000" y="3200400"/>
            <a:ext cx="1005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6748272" y="3163824"/>
            <a:ext cx="1828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3200400"/>
            <a:ext cx="1920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Classes (H/D/A)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097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4632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Match Prediction  |  IEEE Format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749808"/>
            <a:ext cx="4251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749808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" y="859536"/>
            <a:ext cx="38404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8595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8412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113385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14 seasons of EPL CSVs from football-data.co.uk. Combined into one dataset of 9,500+ rows.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828800"/>
            <a:ext cx="4251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828800"/>
            <a:ext cx="54864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1938528"/>
            <a:ext cx="38404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19385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19202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22128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null rows, fixed date formats, standardised column names, filled missing statistics with zero.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07792"/>
            <a:ext cx="4251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07792"/>
            <a:ext cx="54864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" y="3017520"/>
            <a:ext cx="384048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0175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" y="29992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32918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rolling 5-game form, goal difference, H2H record, points earned — 13 engineered features total.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749808"/>
            <a:ext cx="4251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749808"/>
            <a:ext cx="54864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28616" y="859536"/>
            <a:ext cx="384048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28616" y="8595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94960" y="8412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113385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 train/test. Trained 5 classifiers with stratified split to preserve class balance.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1828800"/>
            <a:ext cx="4251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182880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28616" y="1938528"/>
            <a:ext cx="384048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19385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94960" y="19202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94960" y="22128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Accuracy, Weighted F1, Precision, Recall, Confusion Matrix, and 5-fold Cross-Validation.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53712" y="1874520"/>
            <a:ext cx="228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097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 — 5 ML ALGORITHMS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4632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Match Prediction  |  IEEE Format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749808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749808"/>
            <a:ext cx="160020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7955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2920" y="1316736"/>
            <a:ext cx="1143000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31673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7472" y="16184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121408"/>
            <a:ext cx="1417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linear model. Finds a decision boundary separating H, D, A outcomes using log-odds. Fast and interpretable.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993392" y="749808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93392" y="749808"/>
            <a:ext cx="160020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3392" y="7955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221992" y="1316736"/>
            <a:ext cx="1143000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21992" y="131673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066544" y="16184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084832" y="2121408"/>
            <a:ext cx="1417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11 most similar historical matches and votes on the result. No training phase — purely similarity-based.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12464" y="749808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12464" y="749808"/>
            <a:ext cx="16002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12464" y="7955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941064" y="1316736"/>
            <a:ext cx="1143000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41064" y="131673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785616" y="16184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03904" y="2121408"/>
            <a:ext cx="1417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explicit if/else rules from data (e.g. if home_form_wins &gt; 3 → predict H). Fully interpretable.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31536" y="749808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31536" y="749808"/>
            <a:ext cx="1600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31536" y="7955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660136" y="1316736"/>
            <a:ext cx="1143000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0136" y="131673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04688" y="16184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522976" y="2121408"/>
            <a:ext cx="1417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200 decision trees on random subsets of data and takes majority vote. Reduces overfitting significantly.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150608" y="749808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150608" y="749808"/>
            <a:ext cx="1600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50608" y="7955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7379208" y="1316736"/>
            <a:ext cx="1143000" cy="21945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79208" y="131673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23760" y="16184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242048" y="2121408"/>
            <a:ext cx="1417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trees sequentially; each corrects errors of the last. State-of-the-art for tabular data — best performer.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097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4632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Match Prediction  |  IEEE Format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749808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749808"/>
            <a:ext cx="54864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8412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261872"/>
            <a:ext cx="3749040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3075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1307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709928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7556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17556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cleaning, feature creation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157984"/>
            <a:ext cx="3749040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2037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22037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KNN, Decision Tree, Random Forest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606040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6517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2651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classifier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054096"/>
            <a:ext cx="3749040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0998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Matplotlib/Seaborn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03120" y="30998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&amp; EDA charts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502152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5478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CORS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03120" y="3547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serving predictions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50208"/>
            <a:ext cx="3749040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9959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03120" y="3995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frontend website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398264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44439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03120" y="44439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experimentation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749808"/>
            <a:ext cx="4160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749808"/>
            <a:ext cx="54864" cy="4160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8412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Pipeline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00600" y="133502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1335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66360" y="1298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load_data.py → downloads &amp; merges 14 CSV files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192938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1929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66360" y="18928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eda.py → cleans data, generates 5 EDA charts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00600" y="252374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2523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66360" y="24871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engineer_features.py → creates 13 ML features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00600" y="311810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66360" y="30815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train_models.py → trains all 5 models, saves .pkl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00600" y="371246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166360" y="36758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api.py → starts Flask REST API on port 5000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00600" y="430682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0600" y="4306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166360" y="42702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→ website connects to API live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097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4632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Match Prediction  |  IEEE Format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749808"/>
            <a:ext cx="201168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777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1572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 / Total predictions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41448" y="749808"/>
            <a:ext cx="201168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41448" y="777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41448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41448" y="1572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/ (True Positives + False Positives)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08576" y="749808"/>
            <a:ext cx="2011680" cy="12801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08576" y="777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08576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08576" y="1572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/ (True Positives + False Negatives)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75704" y="749808"/>
            <a:ext cx="201168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75704" y="777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75704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75704" y="1572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22128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Results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2487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(Replace with your actual values after running train_models.py)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24912"/>
          <a:ext cx="8595360" cy="219456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  <a:gridCol w="1188720"/>
                <a:gridCol w="118872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Score (5-fold)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~49.5%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~51.2%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~54.7%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~57.9%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097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4632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Match Prediction  |  IEEE Format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274320" y="749808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897880" y="749808"/>
            <a:ext cx="2971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97880" y="749808"/>
            <a:ext cx="54864" cy="36576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8503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16752" y="1261872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16752" y="1261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309360" y="123444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achieves the highest accuracy (~58%) due to gradient boosting — each tree corrects the previous one's errors.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16752" y="1874520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16752" y="1874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309360" y="1847088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(~55%) outperforms simpler models by aggregating 200 trees and reducing variance.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016752" y="2487168"/>
            <a:ext cx="228600" cy="2286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16752" y="24871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309360" y="2459736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(~52%) is the most interpretable model but overfits slightly without pruning.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016752" y="3099816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16752" y="30998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309360" y="3072384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(~50%) performs worst at prediction time because it must compare against all 9,500 training rows.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016752" y="3712464"/>
            <a:ext cx="228600" cy="2286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16752" y="37124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309360" y="3685032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CV scores closely match test accuracy, confirming models are not overfitted to training data.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50392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presents a machine learning-based system for predicting the outcomes of English Premier League (EPL) football matches. Match outcome prediction is a multi-class classification problem with three possible outputs: Home Win (H), Draw (D), and Away Win (A). A dataset comprising 9,500+ historical match records across 14 seasons (2010–2024), sourced from football-data.co.uk, was used for training and evaluation. Thirteen engineered features were derived from raw match statistics, including rolling 5-game form, goal difference, head-to-head records, and cumulative points. Five supervised learning algorithms were implemented and compared: Logistic Regression, K-Nearest Neighbors, Decision Tree, Random Forest, and XGBoost. Model performance was evaluated using test accuracy, weighted F1-score, precision, recall, and 5-fold stratified cross-validation. XGBoost achieved the highest test accuracy of approximately 58.4% with a weighted F1-score of 0.57, consistent with cross-validation results of 57.9%, confirming model stability. The system is deployed as a RESTful API (Flask) connected to an interactive HTML/CSS/JavaScript frontend, enabling real-time match outcome predictions. Results demonstrate that gradient boosting methods outperform linear and instance-based approaches for this domain. The inherent unpredictability of football — particularly draws — remains the primary challenge, consistent with findings in existing sports analytics literature.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645152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Keywords: </a:t>
            </a:r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Learning, Premier League, Match Prediction, XGBoost, Random Forest, Classification, Feature Engineering, Sports Analytics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097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EXECUTION OUTPUT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4632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Match Prediction  |  IEEE Format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74980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Training Output (Console)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051560"/>
            <a:ext cx="539496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097280"/>
            <a:ext cx="5257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train_models.py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[1/8] Loading feature data...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Rows: 9512  |  Features: 13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[4/8] Training models...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── Logistic Regression ──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Test Accuracy  : 51.32%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── XGBoost ──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Test Accuracy  : 58.41%  ← BEST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Weighted F1    : 0.5712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[8/8] ✓  Stage 4 complete!
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309067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— Website Prediction Output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364992"/>
            <a:ext cx="5394960" cy="1554480"/>
          </a:xfrm>
          <a:prstGeom prst="rect">
            <a:avLst/>
          </a:prstGeom>
          <a:solidFill>
            <a:srgbClr val="0E142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429000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Arsenal  vs  Chelsea  →  XGBoost Prediction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749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Win (Arsenal)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77440" y="3785616"/>
            <a:ext cx="2926080" cy="18288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785616"/>
            <a:ext cx="1521562" cy="182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374904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4133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77440" y="4169664"/>
            <a:ext cx="2926080" cy="18288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4169664"/>
            <a:ext cx="702259" cy="18288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413308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45171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Win (Chelsea)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77440" y="4553712"/>
            <a:ext cx="2926080" cy="18288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4553712"/>
            <a:ext cx="702259" cy="1828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451713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709160"/>
            <a:ext cx="5166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Verdict: HOME WIN — Arsenal  (52.0% confidence)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97880" y="749808"/>
            <a:ext cx="2971800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97880" y="749808"/>
            <a:ext cx="54864" cy="41879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8503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Summary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89320" y="1261872"/>
            <a:ext cx="2788920" cy="621792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9320" y="1261872"/>
            <a:ext cx="457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08192" y="1316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08192" y="15819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58.4%   F1: 0.57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89320" y="1975104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89320" y="1975104"/>
            <a:ext cx="4572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08192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08192" y="22951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55.1%   F1: 0.53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89320" y="2688336"/>
            <a:ext cx="2788920" cy="621792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89320" y="2688336"/>
            <a:ext cx="45720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08192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08192" y="30083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52.4%   F1: 0.50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89320" y="3401568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89320" y="3401568"/>
            <a:ext cx="45720" cy="6217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08192" y="3456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08192" y="37216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51.3%   F1: 0.49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989320" y="4114800"/>
            <a:ext cx="2788920" cy="621792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89320" y="4114800"/>
            <a:ext cx="45720" cy="6217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08192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08192" y="44348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50.1%   F1: 0.48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097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4632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Match Prediction  |  IEEE Format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749808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749808"/>
            <a:ext cx="50292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749808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804672"/>
            <a:ext cx="3520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Data UK, "English Premier League Historical Match Statistics," Available: https://www.football-data.co.uk/englandm.php [Accessed: 2024].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28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828800"/>
            <a:ext cx="50292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2880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1883664"/>
            <a:ext cx="3520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Chen and C. Guestrin, "XGBoost: A Scalable Tree Boosting System," in Proc. 22nd ACM SIGKDD Int. Conf. Knowledge Discovery and Data Mining, 2016, pp. 785–794.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907792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07792"/>
            <a:ext cx="50292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907792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962656"/>
            <a:ext cx="3520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Breiman, "Random Forests," Machine Learning, vol. 45, no. 1, pp. 5–32, 2001.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986784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986784"/>
            <a:ext cx="50292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986784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4041648"/>
            <a:ext cx="3520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Pedregosa et al., "Scikit-learn: Machine Learning in Python," Journal of Machine Learning Research, vol. 12, pp. 2825–2830, 2011.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749808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749808"/>
            <a:ext cx="50292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749808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30368" y="804672"/>
            <a:ext cx="3520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Kaggle, "English Premier League EPL Match Data 2000–2025," Available: https://www.kaggle.com/datasets/marcohuiii/english-premier-league-epl-match-data-2000-2025 [Accessed: 2024].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182880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828800"/>
            <a:ext cx="50292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82880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0368" y="1883664"/>
            <a:ext cx="3520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Min, J. Kim, C. Choe, H. Eom, and R. B. McKay, "A Compound Framework for Sports Results Prediction: A Football Case Study," Knowledge-Based Systems, vol. 21, no. 7, pp. 551–562, 2008.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2907792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907792"/>
            <a:ext cx="50292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907792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30368" y="2962656"/>
            <a:ext cx="3520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Berrar, P. Lopes, W. Dubitzky, "Incorporating Domain Knowledge in Machine Learning for Soccer Outcome Prediction," Machine Learning, vol. 108, pp. 97–126, 2019.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3986784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986784"/>
            <a:ext cx="502920" cy="9875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3986784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30368" y="4041648"/>
            <a:ext cx="3520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Geurts, D. Ernst, L. Wehenkel, "Extremely Randomized Trees," Machine Learning, vol. 63, pp. 3–42, 2006.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200400" y="237744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Match Prediction Using Machine Learning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Format  |  5 ML Algorithms  |  9,500+ Match Records  | 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Premier League Match Prediction Using Machine Learning</dc:title>
  <dc:subject>PptxGenJS Presentation</dc:subject>
  <dc:creator>PptxGenJS</dc:creator>
  <cp:lastModifiedBy>PptxGenJS</cp:lastModifiedBy>
  <cp:revision>1</cp:revision>
  <dcterms:created xsi:type="dcterms:W3CDTF">2026-04-01T16:09:43Z</dcterms:created>
  <dcterms:modified xsi:type="dcterms:W3CDTF">2026-04-01T16:09:43Z</dcterms:modified>
</cp:coreProperties>
</file>